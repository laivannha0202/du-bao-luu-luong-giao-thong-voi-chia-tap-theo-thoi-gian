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Calibri"/>
              </a:rPr>
              <a:t>Dự báo lưu lượng giao thông I-94 (chiều westbound) — trạm ATR 301</a:t>
            </a:r>
          </a:p>
          <a:p>
            <a:r>
              <a:rPr sz="1600">
                <a:solidFill>
                  <a:srgbClr val="4A5058"/>
                </a:solidFill>
                <a:latin typeface="Calibri"/>
              </a:rPr>
              <a:t>Project 20 — Bài 7: Rò rỉ dữ liệu, chia tập đúng và đánh giá trung thực</a:t>
            </a:r>
          </a:p>
          <a:p>
            <a:r>
              <a:rPr sz="1300">
                <a:solidFill>
                  <a:srgbClr val="767D87"/>
                </a:solidFill>
                <a:latin typeface="Calibri"/>
              </a:rPr>
              <a:t>Dữ liệu: Metro Interstate Traffic Volume (UCI, CC BY 4.0)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1. Bài toán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Nội dung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Đơn vị quan sát: </a:t>
            </a:r>
            <a:r>
              <a:rPr sz="1300" b="1">
                <a:solidFill>
                  <a:srgbClr val="1A1D21"/>
                </a:solidFill>
                <a:latin typeface="Calibri"/>
              </a:rPr>
              <a:t>1 giờ tại một trạm đo</a:t>
            </a:r>
            <a:r>
              <a:rPr sz="1300" b="0">
                <a:solidFill>
                  <a:srgbClr val="1A1D21"/>
                </a:solidFill>
                <a:latin typeface="Calibri"/>
              </a:rPr>
              <a:t>; biến mục tiêu </a:t>
            </a:r>
            <a:r>
              <a:rPr sz="1200" b="0">
                <a:solidFill>
                  <a:srgbClr val="33373C"/>
                </a:solidFill>
                <a:latin typeface="Consolas"/>
              </a:rPr>
              <a:t>traffic_volume</a:t>
            </a:r>
            <a:r>
              <a:rPr sz="1300" b="0">
                <a:solidFill>
                  <a:srgbClr val="1A1D21"/>
                </a:solidFill>
                <a:latin typeface="Calibri"/>
              </a:rPr>
              <a:t> — </a:t>
            </a:r>
            <a:r>
              <a:rPr sz="1300" b="1">
                <a:solidFill>
                  <a:srgbClr val="1A1D21"/>
                </a:solidFill>
                <a:latin typeface="Calibri"/>
              </a:rPr>
              <a:t>lưu lượng, xe/giờ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Khoảng thời gian: </a:t>
            </a:r>
            <a:r>
              <a:rPr sz="1300" b="1">
                <a:solidFill>
                  <a:srgbClr val="1A1D21"/>
                </a:solidFill>
                <a:latin typeface="Calibri"/>
              </a:rPr>
              <a:t>2012 – 2018</a:t>
            </a:r>
            <a:r>
              <a:rPr sz="1300" b="0">
                <a:solidFill>
                  <a:srgbClr val="1A1D21"/>
                </a:solidFill>
                <a:latin typeface="Calibri"/>
              </a:rPr>
              <a:t> (dữ liệu kết thúc 30/09/2018)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Số dòng thô </a:t>
            </a:r>
            <a:r>
              <a:rPr sz="1300" b="1">
                <a:solidFill>
                  <a:srgbClr val="1A1D21"/>
                </a:solidFill>
                <a:latin typeface="Calibri"/>
              </a:rPr>
              <a:t>48.204</a:t>
            </a:r>
            <a:r>
              <a:rPr sz="1300" b="0">
                <a:solidFill>
                  <a:srgbClr val="1A1D21"/>
                </a:solidFill>
                <a:latin typeface="Calibri"/>
              </a:rPr>
              <a:t> → số dòng dùng để mô hình hoá </a:t>
            </a:r>
            <a:r>
              <a:rPr sz="1300" b="1">
                <a:solidFill>
                  <a:srgbClr val="1A1D21"/>
                </a:solidFill>
                <a:latin typeface="Calibri"/>
              </a:rPr>
              <a:t>40.575</a:t>
            </a:r>
            <a:r>
              <a:rPr sz="1300" b="0">
                <a:solidFill>
                  <a:srgbClr val="1A1D21"/>
                </a:solidFill>
                <a:latin typeface="Calibri"/>
              </a:rPr>
              <a:t> (collapse 5.445 nhóm trùng timestamp)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Ba bẫy đã xử lý: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73C"/>
                </a:solidFill>
                <a:latin typeface="Consolas"/>
              </a:rPr>
              <a:t>holiday == "None"</a:t>
            </a:r>
            <a:r>
              <a:rPr sz="1300" b="0">
                <a:solidFill>
                  <a:srgbClr val="1A1D21"/>
                </a:solidFill>
                <a:latin typeface="Calibri"/>
              </a:rPr>
              <a:t> là </a:t>
            </a:r>
            <a:r>
              <a:rPr sz="1300" b="1">
                <a:solidFill>
                  <a:srgbClr val="1A1D21"/>
                </a:solidFill>
                <a:latin typeface="Calibri"/>
              </a:rPr>
              <a:t>không phải</a:t>
            </a:r>
            <a:r>
              <a:rPr sz="1300" b="0">
                <a:solidFill>
                  <a:srgbClr val="1A1D21"/>
                </a:solidFill>
                <a:latin typeface="Calibri"/>
              </a:rPr>
              <a:t> ngày lễ (dùng </a:t>
            </a:r>
            <a:r>
              <a:rPr sz="1200" b="0">
                <a:solidFill>
                  <a:srgbClr val="33373C"/>
                </a:solidFill>
                <a:latin typeface="Consolas"/>
              </a:rPr>
              <a:t>keep_default_na=False</a:t>
            </a:r>
            <a:r>
              <a:rPr sz="1300" b="0">
                <a:solidFill>
                  <a:srgbClr val="1A1D21"/>
                </a:solidFill>
                <a:latin typeface="Calibri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73C"/>
                </a:solidFill>
                <a:latin typeface="Consolas"/>
              </a:rPr>
              <a:t>temp ≤ 0 K</a:t>
            </a:r>
            <a:r>
              <a:rPr sz="1300" b="0">
                <a:solidFill>
                  <a:srgbClr val="1A1D21"/>
                </a:solidFill>
                <a:latin typeface="Calibri"/>
              </a:rPr>
              <a:t> (10 dòng) → NaN theo </a:t>
            </a:r>
            <a:r>
              <a:rPr sz="1300" b="1">
                <a:solidFill>
                  <a:srgbClr val="1A1D21"/>
                </a:solidFill>
                <a:latin typeface="Calibri"/>
              </a:rPr>
              <a:t>quy tắc vật lý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73C"/>
                </a:solidFill>
                <a:latin typeface="Consolas"/>
              </a:rPr>
              <a:t>rain_1h = 9831,3</a:t>
            </a:r>
            <a:r>
              <a:rPr sz="1300" b="0">
                <a:solidFill>
                  <a:srgbClr val="1A1D21"/>
                </a:solidFill>
                <a:latin typeface="Calibri"/>
              </a:rPr>
              <a:t> (1 dòng) → NaN theo </a:t>
            </a:r>
            <a:r>
              <a:rPr sz="1300" b="1">
                <a:solidFill>
                  <a:srgbClr val="1A1D21"/>
                </a:solidFill>
                <a:latin typeface="Calibri"/>
              </a:rPr>
              <a:t>khớp sentinel</a:t>
            </a:r>
            <a:r>
              <a:rPr sz="1300" b="0">
                <a:solidFill>
                  <a:srgbClr val="1A1D21"/>
                </a:solidFill>
                <a:latin typeface="Calibri"/>
              </a:rPr>
              <a:t>, không dùng ngưỡng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---</a:t>
            </a:r>
          </a:p>
        </p:txBody>
      </p:sp>
      <p:pic>
        <p:nvPicPr>
          <p:cNvPr id="5" name="Picture 4" descr="eda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25880"/>
            <a:ext cx="4572000" cy="2612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67D87"/>
                </a:solidFill>
                <a:latin typeface="Calibri"/>
              </a:rPr>
              <a:t>eda_target_distribution.png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2. Ba quy tắc chống rò rỉ đã chốt TRƯỚC khi động vào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Nội dung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Mọi biến đổi trước khi tách tập là </a:t>
            </a:r>
            <a:r>
              <a:rPr sz="1300" b="1">
                <a:solidFill>
                  <a:srgbClr val="1A1D21"/>
                </a:solidFill>
                <a:latin typeface="Calibri"/>
              </a:rPr>
              <a:t>quy tắc tất định</a:t>
            </a:r>
            <a:r>
              <a:rPr sz="1300" b="0">
                <a:solidFill>
                  <a:srgbClr val="1A1D21"/>
                </a:solidFill>
                <a:latin typeface="Calibri"/>
              </a:rPr>
              <a:t> (giờ, thứ, </a:t>
            </a:r>
            <a:r>
              <a:rPr sz="1200" b="0">
                <a:solidFill>
                  <a:srgbClr val="33373C"/>
                </a:solidFill>
                <a:latin typeface="Consolas"/>
              </a:rPr>
              <a:t>is_holiday</a:t>
            </a:r>
            <a:r>
              <a:rPr sz="1300" b="0">
                <a:solidFill>
                  <a:srgbClr val="1A1D21"/>
                </a:solidFill>
                <a:latin typeface="Calibri"/>
              </a:rPr>
              <a:t> từ lịch),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không học thống kê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Imputer / scaler / encoder nằm trong </a:t>
            </a:r>
            <a:r>
              <a:rPr sz="1200" b="0">
                <a:solidFill>
                  <a:srgbClr val="33373C"/>
                </a:solidFill>
                <a:latin typeface="Consolas"/>
              </a:rPr>
              <a:t>Pipeline</a:t>
            </a:r>
            <a:r>
              <a:rPr sz="1300" b="0">
                <a:solidFill>
                  <a:srgbClr val="1A1D21"/>
                </a:solidFill>
                <a:latin typeface="Calibri"/>
              </a:rPr>
              <a:t>, </a:t>
            </a:r>
            <a:r>
              <a:rPr sz="1300" b="1">
                <a:solidFill>
                  <a:srgbClr val="1A1D21"/>
                </a:solidFill>
                <a:latin typeface="Calibri"/>
              </a:rPr>
              <a:t>fit trên TRAIN duy nhất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73C"/>
                </a:solidFill>
                <a:latin typeface="Consolas"/>
              </a:rPr>
              <a:t>traffic_volume</a:t>
            </a:r>
            <a:r>
              <a:rPr sz="1300" b="0">
                <a:solidFill>
                  <a:srgbClr val="1A1D21"/>
                </a:solidFill>
                <a:latin typeface="Calibri"/>
              </a:rPr>
              <a:t> </a:t>
            </a:r>
            <a:r>
              <a:rPr sz="1300" b="1">
                <a:solidFill>
                  <a:srgbClr val="1A1D21"/>
                </a:solidFill>
                <a:latin typeface="Calibri"/>
              </a:rPr>
              <a:t>không bao giờ</a:t>
            </a:r>
            <a:r>
              <a:rPr sz="1300" b="0">
                <a:solidFill>
                  <a:srgbClr val="1A1D21"/>
                </a:solidFill>
                <a:latin typeface="Calibri"/>
              </a:rPr>
              <a:t> làm feature và </a:t>
            </a:r>
            <a:r>
              <a:rPr sz="1300" b="1">
                <a:solidFill>
                  <a:srgbClr val="1A1D21"/>
                </a:solidFill>
                <a:latin typeface="Calibri"/>
              </a:rPr>
              <a:t>không bao giờ</a:t>
            </a:r>
            <a:r>
              <a:rPr sz="1300" b="0">
                <a:solidFill>
                  <a:srgbClr val="1A1D21"/>
                </a:solidFill>
                <a:latin typeface="Calibri"/>
              </a:rPr>
              <a:t> được đọc lúc phục vụ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3. Chia tập theo thời gian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Nội dung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Assert chạy mỗi lần: </a:t>
            </a:r>
            <a:r>
              <a:rPr sz="1200" b="0">
                <a:solidFill>
                  <a:srgbClr val="33373C"/>
                </a:solidFill>
                <a:latin typeface="Consolas"/>
              </a:rPr>
              <a:t>max(train) &lt; min(val)</a:t>
            </a:r>
            <a:r>
              <a:rPr sz="1300" b="0">
                <a:solidFill>
                  <a:srgbClr val="1A1D21"/>
                </a:solidFill>
                <a:latin typeface="Calibri"/>
              </a:rPr>
              <a:t> ✓ · </a:t>
            </a:r>
            <a:r>
              <a:rPr sz="1200" b="0">
                <a:solidFill>
                  <a:srgbClr val="33373C"/>
                </a:solidFill>
                <a:latin typeface="Consolas"/>
              </a:rPr>
              <a:t>max(val) &lt; min(test)</a:t>
            </a:r>
            <a:r>
              <a:rPr sz="1300" b="0">
                <a:solidFill>
                  <a:srgbClr val="1A1D21"/>
                </a:solidFill>
                <a:latin typeface="Calibri"/>
              </a:rPr>
              <a:t> ✓ · 0 timestamp chung ✓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---</a:t>
            </a:r>
          </a:p>
        </p:txBody>
      </p:sp>
      <p:pic>
        <p:nvPicPr>
          <p:cNvPr id="5" name="Picture 4" descr="eda_traffic_by_month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25880"/>
            <a:ext cx="4572000" cy="1870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67D87"/>
                </a:solidFill>
                <a:latin typeface="Calibri"/>
              </a:rPr>
              <a:t>eda_traffic_by_month_year.png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4. Baseline và mô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Nội dung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</a:t>
            </a:r>
            <a:r>
              <a:rPr sz="1300" b="1">
                <a:solidFill>
                  <a:srgbClr val="1A1D21"/>
                </a:solidFill>
                <a:latin typeface="Calibri"/>
              </a:rPr>
              <a:t>Baseline:</a:t>
            </a:r>
            <a:r>
              <a:rPr sz="1300" b="0">
                <a:solidFill>
                  <a:srgbClr val="1A1D21"/>
                </a:solidFill>
                <a:latin typeface="Calibri"/>
              </a:rPr>
              <a:t> trung bình lưu lượng theo </a:t>
            </a:r>
            <a:r>
              <a:rPr sz="1200" b="0">
                <a:solidFill>
                  <a:srgbClr val="33373C"/>
                </a:solidFill>
                <a:latin typeface="Consolas"/>
              </a:rPr>
              <a:t>giờ × thứ trong tuần</a:t>
            </a:r>
            <a:r>
              <a:rPr sz="1300" b="0">
                <a:solidFill>
                  <a:srgbClr val="1A1D21"/>
                </a:solidFill>
                <a:latin typeface="Calibri"/>
              </a:rPr>
              <a:t>, fit </a:t>
            </a:r>
            <a:r>
              <a:rPr sz="1300" b="1">
                <a:solidFill>
                  <a:srgbClr val="1A1D21"/>
                </a:solidFill>
                <a:latin typeface="Calibri"/>
              </a:rPr>
              <a:t>chỉ trên TRAIN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</a:t>
            </a:r>
            <a:r>
              <a:rPr sz="1300" b="1">
                <a:solidFill>
                  <a:srgbClr val="1A1D21"/>
                </a:solidFill>
                <a:latin typeface="Calibri"/>
              </a:rPr>
              <a:t>Mô hình:</a:t>
            </a:r>
            <a:r>
              <a:rPr sz="1300" b="0">
                <a:solidFill>
                  <a:srgbClr val="1A1D21"/>
                </a:solidFill>
                <a:latin typeface="Calibri"/>
              </a:rPr>
              <a:t> Ridge (L2) trong </a:t>
            </a:r>
            <a:r>
              <a:rPr sz="1200" b="0">
                <a:solidFill>
                  <a:srgbClr val="33373C"/>
                </a:solidFill>
                <a:latin typeface="Consolas"/>
              </a:rPr>
              <a:t>Pipeline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73C"/>
                </a:solidFill>
                <a:latin typeface="Consolas"/>
              </a:rPr>
              <a:t>ColumnTransformer[OneHotEncoder | SimpleImputer(median) → StandardScaler | passthrough] → Ridge(lsqr)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4 cột categorical · 5 cột numeric · 12 cột nhị phân → </a:t>
            </a:r>
            <a:r>
              <a:rPr sz="1300" b="1">
                <a:solidFill>
                  <a:srgbClr val="1A1D21"/>
                </a:solidFill>
                <a:latin typeface="Calibri"/>
              </a:rPr>
              <a:t>217</a:t>
            </a:r>
            <a:r>
              <a:rPr sz="1300" b="0">
                <a:solidFill>
                  <a:srgbClr val="1A1D21"/>
                </a:solidFill>
                <a:latin typeface="Calibri"/>
              </a:rPr>
              <a:t> cột sau tiền xử lý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</a:t>
            </a:r>
            <a:r>
              <a:rPr sz="1200" b="0">
                <a:solidFill>
                  <a:srgbClr val="33373C"/>
                </a:solidFill>
                <a:latin typeface="Consolas"/>
              </a:rPr>
              <a:t>alpha</a:t>
            </a:r>
            <a:r>
              <a:rPr sz="1300" b="0">
                <a:solidFill>
                  <a:srgbClr val="1A1D21"/>
                </a:solidFill>
                <a:latin typeface="Calibri"/>
              </a:rPr>
              <a:t> chọn theo </a:t>
            </a:r>
            <a:r>
              <a:rPr sz="1300" b="1">
                <a:solidFill>
                  <a:srgbClr val="1A1D21"/>
                </a:solidFill>
                <a:latin typeface="Calibri"/>
              </a:rPr>
              <a:t>MAE trên validation 2017</a:t>
            </a:r>
            <a:r>
              <a:rPr sz="1300" b="0">
                <a:solidFill>
                  <a:srgbClr val="1A1D21"/>
                </a:solidFill>
                <a:latin typeface="Calibri"/>
              </a:rPr>
              <a:t> → </a:t>
            </a:r>
            <a:r>
              <a:rPr sz="1200" b="0">
                <a:solidFill>
                  <a:srgbClr val="33373C"/>
                </a:solidFill>
                <a:latin typeface="Consolas"/>
              </a:rPr>
              <a:t>alpha = 0,001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---</a:t>
            </a:r>
          </a:p>
        </p:txBody>
      </p:sp>
      <p:pic>
        <p:nvPicPr>
          <p:cNvPr id="5" name="Picture 4" descr="eda_traffic_by_hour_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25880"/>
            <a:ext cx="4572000" cy="1870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67D87"/>
                </a:solidFill>
                <a:latin typeface="Calibri"/>
              </a:rPr>
              <a:t>eda_traffic_by_hour_dow.png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5. FINAL TEST 2018 (kết quả chính thức)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Nội dung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Cùng một tập test, cùng một tập huấn luyện → phép so sánh </a:t>
            </a:r>
            <a:r>
              <a:rPr sz="1300" b="1">
                <a:solidFill>
                  <a:srgbClr val="1A1D21"/>
                </a:solidFill>
                <a:latin typeface="Calibri"/>
              </a:rPr>
              <a:t>công bằng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2018 </a:t>
            </a:r>
            <a:r>
              <a:rPr sz="1300" b="1">
                <a:solidFill>
                  <a:srgbClr val="1A1D21"/>
                </a:solidFill>
                <a:latin typeface="Calibri"/>
              </a:rPr>
              <a:t>không</a:t>
            </a:r>
            <a:r>
              <a:rPr sz="1300" b="0">
                <a:solidFill>
                  <a:srgbClr val="1A1D21"/>
                </a:solidFill>
                <a:latin typeface="Calibri"/>
              </a:rPr>
              <a:t> dùng để chọn mô hình hay </a:t>
            </a:r>
            <a:r>
              <a:rPr sz="1200" b="0">
                <a:solidFill>
                  <a:srgbClr val="33373C"/>
                </a:solidFill>
                <a:latin typeface="Consolas"/>
              </a:rPr>
              <a:t>alpha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</a:t>
            </a:r>
            <a:r>
              <a:rPr sz="1300" b="1">
                <a:solidFill>
                  <a:srgbClr val="1A1D21"/>
                </a:solidFill>
                <a:latin typeface="Calibri"/>
              </a:rPr>
              <a:t>Kèm điều kiện:</a:t>
            </a:r>
            <a:r>
              <a:rPr sz="1300" b="0">
                <a:solidFill>
                  <a:srgbClr val="1A1D21"/>
                </a:solidFill>
                <a:latin typeface="Calibri"/>
              </a:rPr>
              <a:t> block bootstrap theo ngày lịch → hiệu MAE </a:t>
            </a:r>
            <a:r>
              <a:rPr sz="1300" b="1">
                <a:solidFill>
                  <a:srgbClr val="1A1D21"/>
                </a:solidFill>
                <a:latin typeface="Calibri"/>
              </a:rPr>
              <a:t>+13,16</a:t>
            </a:r>
            <a:r>
              <a:rPr sz="1300" b="0">
                <a:solidFill>
                  <a:srgbClr val="1A1D21"/>
                </a:solidFill>
                <a:latin typeface="Calibri"/>
              </a:rPr>
              <a:t>,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CI 95 % </a:t>
            </a:r>
            <a:r>
              <a:rPr sz="1300" b="1">
                <a:solidFill>
                  <a:srgbClr val="1A1D21"/>
                </a:solidFill>
                <a:latin typeface="Calibri"/>
              </a:rPr>
              <a:t>[+3,80; +22,00]</a:t>
            </a:r>
            <a:r>
              <a:rPr sz="1300" b="0">
                <a:solidFill>
                  <a:srgbClr val="1A1D21"/>
                </a:solidFill>
                <a:latin typeface="Calibri"/>
              </a:rPr>
              <a:t> (không chứa 0), Ridge thắng </a:t>
            </a:r>
            <a:r>
              <a:rPr sz="1300" b="1">
                <a:solidFill>
                  <a:srgbClr val="1A1D21"/>
                </a:solidFill>
                <a:latin typeface="Calibri"/>
              </a:rPr>
              <a:t>8/9 tháng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</a:t>
            </a:r>
            <a:r>
              <a:rPr sz="1300" b="1">
                <a:solidFill>
                  <a:srgbClr val="1A1D21"/>
                </a:solidFill>
                <a:latin typeface="Calibri"/>
              </a:rPr>
              <a:t>Nhưng</a:t>
            </a:r>
            <a:r>
              <a:rPr sz="1300" b="0">
                <a:solidFill>
                  <a:srgbClr val="1A1D21"/>
                </a:solidFill>
                <a:latin typeface="Calibri"/>
              </a:rPr>
              <a:t> ở 3/4 cửa sổ dev 2012–2017 thì Ridge </a:t>
            </a:r>
            <a:r>
              <a:rPr sz="1300" b="1">
                <a:solidFill>
                  <a:srgbClr val="1A1D21"/>
                </a:solidFill>
                <a:latin typeface="Calibri"/>
              </a:rPr>
              <a:t>thua</a:t>
            </a:r>
            <a:r>
              <a:rPr sz="1300" b="0">
                <a:solidFill>
                  <a:srgbClr val="1A1D21"/>
                </a:solidFill>
                <a:latin typeface="Calibri"/>
              </a:rPr>
              <a:t> baseline → không nói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chung "mô hình luôn hơn baseline"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---</a:t>
            </a:r>
          </a:p>
        </p:txBody>
      </p:sp>
      <p:pic>
        <p:nvPicPr>
          <p:cNvPr id="5" name="Picture 4" descr="uncertainty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25880"/>
            <a:ext cx="4572000" cy="15474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67D87"/>
                </a:solidFill>
                <a:latin typeface="Calibri"/>
              </a:rPr>
              <a:t>uncertainty_bootstrap.png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6. Thí nghiệm 1b/1c: đo cái đo được, không đoán cơ chế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Nội dung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Bốn arm dùng </a:t>
            </a:r>
            <a:r>
              <a:rPr sz="1300" b="1">
                <a:solidFill>
                  <a:srgbClr val="1A1D21"/>
                </a:solidFill>
                <a:latin typeface="Calibri"/>
              </a:rPr>
              <a:t>CHUNG một tập test</a:t>
            </a:r>
            <a:r>
              <a:rPr sz="1300" b="0">
                <a:solidFill>
                  <a:srgbClr val="1A1D21"/>
                </a:solidFill>
                <a:latin typeface="Calibri"/>
              </a:rPr>
              <a:t> (nửa 2017, n = 4.357), lặp trên 5 seed cố định: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ΔMAE (C − B) = </a:t>
            </a:r>
            <a:r>
              <a:rPr sz="1300" b="1">
                <a:solidFill>
                  <a:srgbClr val="1A1D21"/>
                </a:solidFill>
                <a:latin typeface="Calibri"/>
              </a:rPr>
              <a:t>−6,55 ± 0,37</a:t>
            </a:r>
            <a:r>
              <a:rPr sz="1300" b="0">
                <a:solidFill>
                  <a:srgbClr val="1A1D21"/>
                </a:solidFill>
                <a:latin typeface="Calibri"/>
              </a:rPr>
              <a:t> · ΔMAE (D − B) = </a:t>
            </a:r>
            <a:r>
              <a:rPr sz="1300" b="1">
                <a:solidFill>
                  <a:srgbClr val="1A1D21"/>
                </a:solidFill>
                <a:latin typeface="Calibri"/>
              </a:rPr>
              <a:t>−6,76 ± 0,39</a:t>
            </a:r>
            <a:r>
              <a:rPr sz="1300" b="0">
                <a:solidFill>
                  <a:srgbClr val="1A1D21"/>
                </a:solidFill>
                <a:latin typeface="Calibri"/>
              </a:rPr>
              <a:t> → chênh </a:t>
            </a:r>
            <a:r>
              <a:rPr sz="1300" b="1">
                <a:solidFill>
                  <a:srgbClr val="1A1D21"/>
                </a:solidFill>
                <a:latin typeface="Calibri"/>
              </a:rPr>
              <a:t>+0,21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Thí nghiệm 1c (tháng chẵn → train, tháng lẻ → test): ΔMAE = </a:t>
            </a:r>
            <a:r>
              <a:rPr sz="1300" b="1">
                <a:solidFill>
                  <a:srgbClr val="1A1D21"/>
                </a:solidFill>
                <a:latin typeface="Calibri"/>
              </a:rPr>
              <a:t>−2,40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→ chênh giữa "2017 rải rác toàn năm" và "2017 chỉ ở tháng khác" là </a:t>
            </a:r>
            <a:r>
              <a:rPr sz="1300" b="1">
                <a:solidFill>
                  <a:srgbClr val="1A1D21"/>
                </a:solidFill>
                <a:latin typeface="Calibri"/>
              </a:rPr>
              <a:t>4,15 MAE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7. Mô hình hỏng ở đâu? (phân tích lỗi, kèm số mẫu)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Nội dung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Ngày lễ: MAE </a:t>
            </a:r>
            <a:r>
              <a:rPr sz="1300" b="1">
                <a:solidFill>
                  <a:srgbClr val="1A1D21"/>
                </a:solidFill>
                <a:latin typeface="Calibri"/>
              </a:rPr>
              <a:t>gấp 4,3 lần</a:t>
            </a:r>
            <a:r>
              <a:rPr sz="1300" b="0">
                <a:solidFill>
                  <a:srgbClr val="1A1D21"/>
                </a:solidFill>
                <a:latin typeface="Calibri"/>
              </a:rPr>
              <a:t>, thiên lệch </a:t>
            </a:r>
            <a:r>
              <a:rPr sz="1300" b="1">
                <a:solidFill>
                  <a:srgbClr val="1A1D21"/>
                </a:solidFill>
                <a:latin typeface="Calibri"/>
              </a:rPr>
              <a:t>+58,68</a:t>
            </a:r>
            <a:r>
              <a:rPr sz="1300" b="0">
                <a:solidFill>
                  <a:srgbClr val="1A1D21"/>
                </a:solidFill>
                <a:latin typeface="Calibri"/>
              </a:rPr>
              <a:t> (mô hình dự báo cao hơn thực tế)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Chỉ </a:t>
            </a:r>
            <a:r>
              <a:rPr sz="1300" b="1">
                <a:solidFill>
                  <a:srgbClr val="1A1D21"/>
                </a:solidFill>
                <a:latin typeface="Calibri"/>
              </a:rPr>
              <a:t>7 ngày lễ</a:t>
            </a:r>
            <a:r>
              <a:rPr sz="1300" b="0">
                <a:solidFill>
                  <a:srgbClr val="1A1D21"/>
                </a:solidFill>
                <a:latin typeface="Calibri"/>
              </a:rPr>
              <a:t> trong 2018 → ước lượng có độ bất định lớn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Phân khúc </a:t>
            </a:r>
            <a:r>
              <a:rPr sz="1300" b="1">
                <a:solidFill>
                  <a:srgbClr val="1A1D21"/>
                </a:solidFill>
                <a:latin typeface="Calibri"/>
              </a:rPr>
              <a:t>Squall có n = 0</a:t>
            </a:r>
            <a:r>
              <a:rPr sz="1300" b="0">
                <a:solidFill>
                  <a:srgbClr val="1A1D21"/>
                </a:solidFill>
                <a:latin typeface="Calibri"/>
              </a:rPr>
              <a:t> → báo cáo ghi "không đánh giá được", </a:t>
            </a:r>
            <a:r>
              <a:rPr sz="1300" b="1">
                <a:solidFill>
                  <a:srgbClr val="1A1D21"/>
                </a:solidFill>
                <a:latin typeface="Calibri"/>
              </a:rPr>
              <a:t>không</a:t>
            </a:r>
            <a:r>
              <a:rPr sz="1300" b="0">
                <a:solidFill>
                  <a:srgbClr val="1A1D21"/>
                </a:solidFill>
                <a:latin typeface="Calibri"/>
              </a:rPr>
              <a:t> báo số 0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Và quan trọng: nhóm em </a:t>
            </a:r>
            <a:r>
              <a:rPr sz="1300" b="1">
                <a:solidFill>
                  <a:srgbClr val="1A1D21"/>
                </a:solidFill>
                <a:latin typeface="Calibri"/>
              </a:rPr>
              <a:t>đã kiểm chứng lại trên dữ liệu 2012–2017</a:t>
            </a:r>
            <a:r>
              <a:rPr sz="1300" b="0">
                <a:solidFill>
                  <a:srgbClr val="1A1D21"/>
                </a:solidFill>
                <a:latin typeface="Calibri"/>
              </a:rPr>
              <a:t>, không chỉ nhìn 2018 —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Ridge kém ở </a:t>
            </a:r>
            <a:r>
              <a:rPr sz="1300" b="1">
                <a:solidFill>
                  <a:srgbClr val="1A1D21"/>
                </a:solidFill>
                <a:latin typeface="Calibri"/>
              </a:rPr>
              <a:t>toàn bộ 5 giờ đêm trong cả 3/3 cửa sổ</a:t>
            </a:r>
            <a:r>
              <a:rPr sz="1300" b="0">
                <a:solidFill>
                  <a:srgbClr val="1A1D21"/>
                </a:solidFill>
                <a:latin typeface="Calibri"/>
              </a:rPr>
              <a:t>. Nên đây là </a:t>
            </a:r>
            <a:r>
              <a:rPr sz="1300" b="1">
                <a:solidFill>
                  <a:srgbClr val="1A1D21"/>
                </a:solidFill>
                <a:latin typeface="Calibri"/>
              </a:rPr>
              <a:t>đặc tính của mô hình</a:t>
            </a:r>
            <a:r>
              <a:rPr sz="1300" b="0">
                <a:solidFill>
                  <a:srgbClr val="1A1D21"/>
                </a:solidFill>
                <a:latin typeface="Calibri"/>
              </a:rPr>
              <a:t>, không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phải đặc điểm của năm 2018. Giả thuyết: mô hình cộng tuyến tính nên hiệu ứng thời tiết cộng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một lượng *tuyệt đối* giống nhau ở mọi giờ, trong khi thực tế nó *tương đối* theo lưu lượng.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Nhóm thử log-target: MAE giờ đêm giảm gần một nửa, nhưng MAE tổng lại xấu hơn — và nhóm </a:t>
            </a:r>
            <a:r>
              <a:rPr sz="1300" b="1">
                <a:solidFill>
                  <a:srgbClr val="1A1D21"/>
                </a:solidFill>
                <a:latin typeface="Calibri"/>
              </a:rPr>
              <a:t>không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thay mô hình, vì giả thuyết này nêu ra sau khi đã nhìn 2018."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---</a:t>
            </a:r>
          </a:p>
        </p:txBody>
      </p:sp>
      <p:pic>
        <p:nvPicPr>
          <p:cNvPr id="5" name="Picture 4" descr="final_mae_by_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25880"/>
            <a:ext cx="45720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67D87"/>
                </a:solidFill>
                <a:latin typeface="Calibri"/>
              </a:rPr>
              <a:t>final_mae_by_weather.png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8. Ứng dụng Web / API: chỉ nạp artifact, không train lại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Nội dung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3 màn hình: </a:t>
            </a:r>
            <a:r>
              <a:rPr sz="1300" b="1">
                <a:solidFill>
                  <a:srgbClr val="1A1D21"/>
                </a:solidFill>
                <a:latin typeface="Calibri"/>
              </a:rPr>
              <a:t>Giới thiệu</a:t>
            </a:r>
            <a:r>
              <a:rPr sz="1300" b="0">
                <a:solidFill>
                  <a:srgbClr val="1A1D21"/>
                </a:solidFill>
                <a:latin typeface="Calibri"/>
              </a:rPr>
              <a:t> (</a:t>
            </a:r>
            <a:r>
              <a:rPr sz="1200" b="0">
                <a:solidFill>
                  <a:srgbClr val="33373C"/>
                </a:solidFill>
                <a:latin typeface="Consolas"/>
              </a:rPr>
              <a:t>/</a:t>
            </a:r>
            <a:r>
              <a:rPr sz="1300" b="0">
                <a:solidFill>
                  <a:srgbClr val="1A1D21"/>
                </a:solidFill>
                <a:latin typeface="Calibri"/>
              </a:rPr>
              <a:t>) · </a:t>
            </a:r>
            <a:r>
              <a:rPr sz="1300" b="1">
                <a:solidFill>
                  <a:srgbClr val="1A1D21"/>
                </a:solidFill>
                <a:latin typeface="Calibri"/>
              </a:rPr>
              <a:t>Dự báo</a:t>
            </a:r>
            <a:r>
              <a:rPr sz="1300" b="0">
                <a:solidFill>
                  <a:srgbClr val="1A1D21"/>
                </a:solidFill>
                <a:latin typeface="Calibri"/>
              </a:rPr>
              <a:t> (</a:t>
            </a:r>
            <a:r>
              <a:rPr sz="1200" b="0">
                <a:solidFill>
                  <a:srgbClr val="33373C"/>
                </a:solidFill>
                <a:latin typeface="Consolas"/>
              </a:rPr>
              <a:t>/du-bao</a:t>
            </a:r>
            <a:r>
              <a:rPr sz="1300" b="0">
                <a:solidFill>
                  <a:srgbClr val="1A1D21"/>
                </a:solidFill>
                <a:latin typeface="Calibri"/>
              </a:rPr>
              <a:t>, gọi </a:t>
            </a:r>
            <a:r>
              <a:rPr sz="1200" b="0">
                <a:solidFill>
                  <a:srgbClr val="33373C"/>
                </a:solidFill>
                <a:latin typeface="Consolas"/>
              </a:rPr>
              <a:t>POST /api/traffic-forecast</a:t>
            </a:r>
            <a:r>
              <a:rPr sz="1300" b="0">
                <a:solidFill>
                  <a:srgbClr val="1A1D21"/>
                </a:solidFill>
                <a:latin typeface="Calibri"/>
              </a:rPr>
              <a:t> thật) ·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Dashboard &amp; Model Card</a:t>
            </a:r>
            <a:r>
              <a:rPr sz="1300" b="0">
                <a:solidFill>
                  <a:srgbClr val="1A1D21"/>
                </a:solidFill>
                <a:latin typeface="Calibri"/>
              </a:rPr>
              <a:t> (</a:t>
            </a:r>
            <a:r>
              <a:rPr sz="1200" b="0">
                <a:solidFill>
                  <a:srgbClr val="33373C"/>
                </a:solidFill>
                <a:latin typeface="Consolas"/>
              </a:rPr>
              <a:t>/dashboard</a:t>
            </a:r>
            <a:r>
              <a:rPr sz="1300" b="0">
                <a:solidFill>
                  <a:srgbClr val="1A1D21"/>
                </a:solidFill>
                <a:latin typeface="Calibri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4 endpoint: </a:t>
            </a:r>
            <a:r>
              <a:rPr sz="1200" b="0">
                <a:solidFill>
                  <a:srgbClr val="33373C"/>
                </a:solidFill>
                <a:latin typeface="Consolas"/>
              </a:rPr>
              <a:t>GET /health</a:t>
            </a:r>
            <a:r>
              <a:rPr sz="1300" b="0">
                <a:solidFill>
                  <a:srgbClr val="1A1D21"/>
                </a:solidFill>
                <a:latin typeface="Calibri"/>
              </a:rPr>
              <a:t> · </a:t>
            </a:r>
            <a:r>
              <a:rPr sz="1200" b="0">
                <a:solidFill>
                  <a:srgbClr val="33373C"/>
                </a:solidFill>
                <a:latin typeface="Consolas"/>
              </a:rPr>
              <a:t>GET /api/model-info</a:t>
            </a:r>
            <a:r>
              <a:rPr sz="1300" b="0">
                <a:solidFill>
                  <a:srgbClr val="1A1D21"/>
                </a:solidFill>
                <a:latin typeface="Calibri"/>
              </a:rPr>
              <a:t> · </a:t>
            </a:r>
            <a:r>
              <a:rPr sz="1200" b="0">
                <a:solidFill>
                  <a:srgbClr val="33373C"/>
                </a:solidFill>
                <a:latin typeface="Consolas"/>
              </a:rPr>
              <a:t>POST /api/traffic-forecast</a:t>
            </a:r>
            <a:r>
              <a:rPr sz="1300" b="0">
                <a:solidFill>
                  <a:srgbClr val="1A1D21"/>
                </a:solidFill>
                <a:latin typeface="Calibri"/>
              </a:rPr>
              <a:t> ·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33373C"/>
                </a:solidFill>
                <a:latin typeface="Consolas"/>
              </a:rPr>
              <a:t>GET /api/dashboard-metrics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</a:t>
            </a:r>
            <a:r>
              <a:rPr sz="1300" b="1">
                <a:solidFill>
                  <a:srgbClr val="1A1D21"/>
                </a:solidFill>
                <a:latin typeface="Calibri"/>
              </a:rPr>
              <a:t>Không</a:t>
            </a:r>
            <a:r>
              <a:rPr sz="1300" b="0">
                <a:solidFill>
                  <a:srgbClr val="1A1D21"/>
                </a:solidFill>
                <a:latin typeface="Calibri"/>
              </a:rPr>
              <a:t> train, </a:t>
            </a:r>
            <a:r>
              <a:rPr sz="1300" b="1">
                <a:solidFill>
                  <a:srgbClr val="1A1D21"/>
                </a:solidFill>
                <a:latin typeface="Calibri"/>
              </a:rPr>
              <a:t>không</a:t>
            </a:r>
            <a:r>
              <a:rPr sz="1300" b="0">
                <a:solidFill>
                  <a:srgbClr val="1A1D21"/>
                </a:solidFill>
                <a:latin typeface="Calibri"/>
              </a:rPr>
              <a:t> tune alpha, </a:t>
            </a:r>
            <a:r>
              <a:rPr sz="1300" b="1">
                <a:solidFill>
                  <a:srgbClr val="1A1D21"/>
                </a:solidFill>
                <a:latin typeface="Calibri"/>
              </a:rPr>
              <a:t>không</a:t>
            </a:r>
            <a:r>
              <a:rPr sz="1300" b="0">
                <a:solidFill>
                  <a:srgbClr val="1A1D21"/>
                </a:solidFill>
                <a:latin typeface="Calibri"/>
              </a:rPr>
              <a:t> fit lại encoder/imputer/scaler,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không</a:t>
            </a:r>
            <a:r>
              <a:rPr sz="1300" b="0">
                <a:solidFill>
                  <a:srgbClr val="1A1D21"/>
                </a:solidFill>
                <a:latin typeface="Calibri"/>
              </a:rPr>
              <a:t> đọc target từ dataset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Mọi feature sinh bằng </a:t>
            </a:r>
            <a:r>
              <a:rPr sz="1300" b="1">
                <a:solidFill>
                  <a:srgbClr val="1A1D21"/>
                </a:solidFill>
                <a:latin typeface="Calibri"/>
              </a:rPr>
              <a:t>CHUNG hàm src.features.build_features</a:t>
            </a:r>
            <a:r>
              <a:rPr sz="1300" b="0">
                <a:solidFill>
                  <a:srgbClr val="1A1D21"/>
                </a:solidFill>
                <a:latin typeface="Calibri"/>
              </a:rPr>
              <a:t> với lúc huấn luyện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→ </a:t>
            </a:r>
            <a:r>
              <a:rPr sz="1300" b="1">
                <a:solidFill>
                  <a:srgbClr val="1A1D21"/>
                </a:solidFill>
                <a:latin typeface="Calibri"/>
              </a:rPr>
              <a:t>không có train-serving skew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• Số liệu dashboard </a:t>
            </a:r>
            <a:r>
              <a:rPr sz="1300" b="1">
                <a:solidFill>
                  <a:srgbClr val="1A1D21"/>
                </a:solidFill>
                <a:latin typeface="Calibri"/>
              </a:rPr>
              <a:t>đọc từ artifact</a:t>
            </a:r>
            <a:r>
              <a:rPr sz="1300" b="0">
                <a:solidFill>
                  <a:srgbClr val="1A1D21"/>
                </a:solidFill>
                <a:latin typeface="Calibri"/>
              </a:rPr>
              <a:t>, không hard-code trong HTML/JS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9. Model Card (tóm tắt) &amp; Hạn chế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Nội dung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Hạn chế (nói thẳng):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Một trạm I-94 westbound — </a:t>
            </a:r>
            <a:r>
              <a:rPr sz="1300" b="1">
                <a:solidFill>
                  <a:srgbClr val="1A1D21"/>
                </a:solidFill>
                <a:latin typeface="Calibri"/>
              </a:rPr>
              <a:t>không đại diện toàn thành phố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Ngày lễ: MAE gấp 4,3 lần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Thời tiết cực đoan: MAE gấp 1,84 lần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Test 2018 chỉ tới </a:t>
            </a:r>
            <a:r>
              <a:rPr sz="1300" b="1">
                <a:solidFill>
                  <a:srgbClr val="1A1D21"/>
                </a:solidFill>
                <a:latin typeface="Calibri"/>
              </a:rPr>
              <a:t>30/09</a:t>
            </a:r>
            <a:r>
              <a:rPr sz="1300" b="0">
                <a:solidFill>
                  <a:srgbClr val="1A1D21"/>
                </a:solidFill>
                <a:latin typeface="Calibri"/>
              </a:rPr>
              <a:t> — và đây lại là phần </a:t>
            </a:r>
            <a:r>
              <a:rPr sz="1300" b="1">
                <a:solidFill>
                  <a:srgbClr val="1A1D21"/>
                </a:solidFill>
                <a:latin typeface="Calibri"/>
              </a:rPr>
              <a:t>dễ hơn</a:t>
            </a:r>
            <a:r>
              <a:rPr sz="1300" b="0">
                <a:solidFill>
                  <a:srgbClr val="1A1D21"/>
                </a:solidFill>
                <a:latin typeface="Calibri"/>
              </a:rPr>
              <a:t> của năm: chấm Jan–Sep 2017 cho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MAE </a:t>
            </a:r>
            <a:r>
              <a:rPr sz="1300" b="1">
                <a:solidFill>
                  <a:srgbClr val="1A1D21"/>
                </a:solidFill>
                <a:latin typeface="Calibri"/>
              </a:rPr>
              <a:t>250,96</a:t>
            </a:r>
            <a:r>
              <a:rPr sz="1300" b="0">
                <a:solidFill>
                  <a:srgbClr val="1A1D21"/>
                </a:solidFill>
                <a:latin typeface="Calibri"/>
              </a:rPr>
              <a:t> so với </a:t>
            </a:r>
            <a:r>
              <a:rPr sz="1300" b="1">
                <a:solidFill>
                  <a:srgbClr val="1A1D21"/>
                </a:solidFill>
                <a:latin typeface="Calibri"/>
              </a:rPr>
              <a:t>272,12</a:t>
            </a:r>
            <a:r>
              <a:rPr sz="1300" b="0">
                <a:solidFill>
                  <a:srgbClr val="1A1D21"/>
                </a:solidFill>
                <a:latin typeface="Calibri"/>
              </a:rPr>
              <a:t> cả năm (chênh </a:t>
            </a:r>
            <a:r>
              <a:rPr sz="1300" b="1">
                <a:solidFill>
                  <a:srgbClr val="1A1D21"/>
                </a:solidFill>
                <a:latin typeface="Calibri"/>
              </a:rPr>
              <a:t>−21,16</a:t>
            </a:r>
            <a:r>
              <a:rPr sz="1300" b="0">
                <a:solidFill>
                  <a:srgbClr val="1A1D21"/>
                </a:solidFill>
                <a:latin typeface="Calibri"/>
              </a:rPr>
              <a:t>). Tháng 11–12 là hai tháng tệ nhất.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Ngày lễ chỉ </a:t>
            </a:r>
            <a:r>
              <a:rPr sz="1300" b="1">
                <a:solidFill>
                  <a:srgbClr val="1A1D21"/>
                </a:solidFill>
                <a:latin typeface="Calibri"/>
              </a:rPr>
              <a:t>7 ngày lịch</a:t>
            </a:r>
            <a:r>
              <a:rPr sz="1300" b="0">
                <a:solidFill>
                  <a:srgbClr val="1A1D21"/>
                </a:solidFill>
                <a:latin typeface="Calibri"/>
              </a:rPr>
              <a:t> (167 giờ), MAE từng ngày lệch nhau gần 3 lần (518 → 1.509)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Dữ liệu lịch sử </a:t>
            </a:r>
            <a:r>
              <a:rPr sz="1300" b="1">
                <a:solidFill>
                  <a:srgbClr val="1A1D21"/>
                </a:solidFill>
                <a:latin typeface="Calibri"/>
              </a:rPr>
              <a:t>2012–2018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Lịch State Fair chỉ có </a:t>
            </a:r>
            <a:r>
              <a:rPr sz="1300" b="1">
                <a:solidFill>
                  <a:srgbClr val="1A1D21"/>
                </a:solidFill>
                <a:latin typeface="Calibri"/>
              </a:rPr>
              <a:t>2012–2020</a:t>
            </a:r>
            <a:r>
              <a:rPr sz="1300" b="0">
                <a:solidFill>
                  <a:srgbClr val="1A1D21"/>
                </a:solidFill>
                <a:latin typeface="Calibri"/>
              </a:rPr>
              <a:t>; ngoài phạm vi hệ thống </a:t>
            </a:r>
            <a:r>
              <a:rPr sz="1300" b="1">
                <a:solidFill>
                  <a:srgbClr val="1A1D21"/>
                </a:solidFill>
                <a:latin typeface="Calibri"/>
              </a:rPr>
              <a:t>báo rõ, không tự đoán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Không dùng cho mục đích safety-critical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Dự báo thô âm ở 34/6.533 dòng → API chặn về 0 theo policy </a:t>
            </a:r>
            <a:r>
              <a:rPr sz="1200" b="0">
                <a:solidFill>
                  <a:srgbClr val="33373C"/>
                </a:solidFill>
                <a:latin typeface="Consolas"/>
              </a:rPr>
              <a:t>max(0, ·)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Mô hình ≈ OLS: </a:t>
            </a:r>
            <a:r>
              <a:rPr sz="1200" b="0">
                <a:solidFill>
                  <a:srgbClr val="33373C"/>
                </a:solidFill>
                <a:latin typeface="Consolas"/>
              </a:rPr>
              <a:t>alpha ∈ [0; 0,01]</a:t>
            </a:r>
            <a:r>
              <a:rPr sz="1300" b="0">
                <a:solidFill>
                  <a:srgbClr val="1A1D21"/>
                </a:solidFill>
                <a:latin typeface="Calibri"/>
              </a:rPr>
              <a:t> chỉ chênh 0,09 MAE trên validation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Ridge </a:t>
            </a:r>
            <a:r>
              <a:rPr sz="1300" b="1">
                <a:solidFill>
                  <a:srgbClr val="1A1D21"/>
                </a:solidFill>
                <a:latin typeface="Calibri"/>
              </a:rPr>
              <a:t>thua</a:t>
            </a:r>
            <a:r>
              <a:rPr sz="1300" b="0">
                <a:solidFill>
                  <a:srgbClr val="1A1D21"/>
                </a:solidFill>
                <a:latin typeface="Calibri"/>
              </a:rPr>
              <a:t> baseline ở 3/4 cửa sổ dev 2012–2017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10. 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Nội dung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Mô hình nhỉnh hơn baseline trên 2018</a:t>
            </a:r>
            <a:r>
              <a:rPr sz="1300" b="0">
                <a:solidFill>
                  <a:srgbClr val="1A1D21"/>
                </a:solidFill>
                <a:latin typeface="Calibri"/>
              </a:rPr>
              <a:t> — có điều kiện: MAE 259,73 so với 272,90,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CI 95 % của hiệu MAE [+3,80; +22,00], thắng 8/9 tháng; </a:t>
            </a:r>
            <a:r>
              <a:rPr sz="1300" b="1">
                <a:solidFill>
                  <a:srgbClr val="1A1D21"/>
                </a:solidFill>
                <a:latin typeface="Calibri"/>
              </a:rPr>
              <a:t>nhưng</a:t>
            </a:r>
            <a:r>
              <a:rPr sz="1300" b="0">
                <a:solidFill>
                  <a:srgbClr val="1A1D21"/>
                </a:solidFill>
                <a:latin typeface="Calibri"/>
              </a:rPr>
              <a:t> ở 3/4 cửa sổ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dev 2012–2017 thì ngược lại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Cách đánh giá cũng làm lệch kết luận</a:t>
            </a:r>
            <a:r>
              <a:rPr sz="1300" b="0">
                <a:solidFill>
                  <a:srgbClr val="1A1D21"/>
                </a:solidFill>
                <a:latin typeface="Calibri"/>
              </a:rPr>
              <a:t>: random split lạc quan </a:t>
            </a:r>
            <a:r>
              <a:rPr sz="1300" b="1">
                <a:solidFill>
                  <a:srgbClr val="1A1D21"/>
                </a:solidFill>
                <a:latin typeface="Calibri"/>
              </a:rPr>
              <a:t>5,43 ± 0,81 MAE</a:t>
            </a:r>
            <a:r>
              <a:rPr sz="1300" b="0">
                <a:solidFill>
                  <a:srgbClr val="1A1D21"/>
                </a:solidFill>
                <a:latin typeface="Calibri"/>
              </a:rPr>
              <a:t> trên cùng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tập dòng đánh giá (§Slide 7); khoảng cách thời gian thêm </a:t>
            </a:r>
            <a:r>
              <a:rPr sz="1300" b="1">
                <a:solidFill>
                  <a:srgbClr val="1A1D21"/>
                </a:solidFill>
                <a:latin typeface="Calibri"/>
              </a:rPr>
              <a:t>4,15 MAE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Biết mô hình hỏng ở đâu</a:t>
            </a:r>
            <a:r>
              <a:rPr sz="1300" b="0">
                <a:solidFill>
                  <a:srgbClr val="1A1D21"/>
                </a:solidFill>
                <a:latin typeface="Calibri"/>
              </a:rPr>
              <a:t> cũng là kết quả: ngày lễ, tuyết, sương mù, giờ đêm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Nói trung thực, kể cả khi bất tiện</a:t>
            </a:r>
            <a:r>
              <a:rPr sz="1300" b="0">
                <a:solidFill>
                  <a:srgbClr val="1A1D21"/>
                </a:solidFill>
                <a:latin typeface="Calibri"/>
              </a:rPr>
              <a:t>: không gán cơ chế cho một con số khi chưa tách được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các yếu tố — bản đầu của báo cáo đã từng kết luận sai, và nhóm đã sửa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A1D21"/>
                </a:solidFill>
                <a:latin typeface="Calibri"/>
              </a:rPr>
              <a:t>Minh bạch</a:t>
            </a:r>
            <a:r>
              <a:rPr sz="1300" b="0">
                <a:solidFill>
                  <a:srgbClr val="1A1D21"/>
                </a:solidFill>
                <a:latin typeface="Calibri"/>
              </a:rPr>
              <a:t>: 392 test pass, 0 fail; web/API chạy thật, chỉ nạp artifact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1D21"/>
                </a:solidFill>
                <a:latin typeface="Calibri"/>
              </a:rPr>
              <a:t>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